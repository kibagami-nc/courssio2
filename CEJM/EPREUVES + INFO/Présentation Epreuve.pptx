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5"/>
  </p:notesMasterIdLst>
  <p:sldIdLst>
    <p:sldId id="256" r:id="rId2"/>
    <p:sldId id="258" r:id="rId3"/>
    <p:sldId id="257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05762-5BD4-4EC2-84E5-C0A78966F6CB}" type="datetimeFigureOut">
              <a:rPr lang="fr-FR" smtClean="0"/>
              <a:t>15/02/2026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51A4D-8364-41B2-8436-9E5A483DA5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65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B4B6-E83C-4069-9B1B-47DCCCDD27CB}" type="datetime1">
              <a:rPr lang="fr-FR" smtClean="0"/>
              <a:t>15/02/2026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47BC-A98F-4913-B2EE-1855A9BA6D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312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E7ED-E52C-4A44-85D5-A378F29F49FA}" type="datetime1">
              <a:rPr lang="fr-FR" smtClean="0"/>
              <a:t>15/02/2026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47BC-A98F-4913-B2EE-1855A9BA6D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64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EA82-4AB9-4382-BE6E-8109598471FF}" type="datetime1">
              <a:rPr lang="fr-FR" smtClean="0"/>
              <a:t>15/02/2026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47BC-A98F-4913-B2EE-1855A9BA6D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998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982E-07A4-4408-B222-5453922CB025}" type="datetime1">
              <a:rPr lang="fr-FR" smtClean="0"/>
              <a:t>15/02/2026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47BC-A98F-4913-B2EE-1855A9BA6D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744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77556-C6A9-41C6-908B-39000D453E4D}" type="datetime1">
              <a:rPr lang="fr-FR" smtClean="0"/>
              <a:t>15/02/2026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47BC-A98F-4913-B2EE-1855A9BA6D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0099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0208-8197-4ADA-913A-382763B9FFA6}" type="datetime1">
              <a:rPr lang="fr-FR" smtClean="0"/>
              <a:t>15/02/2026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47BC-A98F-4913-B2EE-1855A9BA6D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258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99DB0-F1C9-419D-A604-FD5DA342824B}" type="datetime1">
              <a:rPr lang="fr-FR" smtClean="0"/>
              <a:t>15/02/2026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47BC-A98F-4913-B2EE-1855A9BA6D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2622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5D12B-2746-4531-ADB9-81C4D3BEB664}" type="datetime1">
              <a:rPr lang="fr-FR" smtClean="0"/>
              <a:t>15/02/2026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47BC-A98F-4913-B2EE-1855A9BA6D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8827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E371-BB51-4AEA-A74C-1667CB512B7D}" type="datetime1">
              <a:rPr lang="fr-FR" smtClean="0"/>
              <a:t>15/02/2026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47BC-A98F-4913-B2EE-1855A9BA6D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67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5F9D1-0DD7-446E-A3C0-E39F98A01992}" type="datetime1">
              <a:rPr lang="fr-FR" smtClean="0"/>
              <a:t>15/02/2026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47BC-A98F-4913-B2EE-1855A9BA6D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22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C979-E8AE-4CBE-9427-53436C3D9A45}" type="datetime1">
              <a:rPr lang="fr-FR" smtClean="0"/>
              <a:t>15/02/2026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47BC-A98F-4913-B2EE-1855A9BA6D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820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7DBA4-11A7-47F7-820D-0BB440A95651}" type="datetime1">
              <a:rPr lang="fr-FR" smtClean="0"/>
              <a:t>15/02/2026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347BC-A98F-4913-B2EE-1855A9BA6D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36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01931" y="966652"/>
            <a:ext cx="9144000" cy="434993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9600" b="1" dirty="0" smtClean="0"/>
              <a:t>Présentation </a:t>
            </a:r>
            <a:br>
              <a:rPr lang="fr-FR" sz="9600" b="1" dirty="0" smtClean="0"/>
            </a:br>
            <a:r>
              <a:rPr lang="fr-FR" sz="9600" b="1" dirty="0" smtClean="0"/>
              <a:t>de l’épreuve de CEJM</a:t>
            </a:r>
            <a:endParaRPr lang="fr-FR" sz="9600" b="1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291819" y="6300080"/>
            <a:ext cx="4114800" cy="365125"/>
          </a:xfrm>
        </p:spPr>
        <p:txBody>
          <a:bodyPr/>
          <a:lstStyle/>
          <a:p>
            <a:r>
              <a:rPr lang="fr-FR" sz="1000" b="1" i="1" dirty="0" smtClean="0"/>
              <a:t>CEJM – TSTS SIO 2026 – Mme Vagner -</a:t>
            </a:r>
            <a:endParaRPr lang="fr-FR" sz="1000" b="1" i="1" dirty="0"/>
          </a:p>
        </p:txBody>
      </p:sp>
    </p:spTree>
    <p:extLst>
      <p:ext uri="{BB962C8B-B14F-4D97-AF65-F5344CB8AC3E}">
        <p14:creationId xmlns:p14="http://schemas.microsoft.com/office/powerpoint/2010/main" val="1256441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180114" y="653143"/>
            <a:ext cx="3052354" cy="819014"/>
          </a:xfrm>
        </p:spPr>
        <p:txBody>
          <a:bodyPr>
            <a:normAutofit/>
          </a:bodyPr>
          <a:lstStyle/>
          <a:p>
            <a:r>
              <a:rPr lang="fr-FR" sz="4400" b="1" dirty="0" smtClean="0"/>
              <a:t>SOMMAIRE</a:t>
            </a:r>
            <a:endParaRPr lang="fr-FR" sz="4400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74766" y="1472157"/>
            <a:ext cx="9975668" cy="4301626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l"/>
            <a:endParaRPr lang="fr-FR" sz="2800" b="1" dirty="0" smtClean="0"/>
          </a:p>
          <a:p>
            <a:pPr algn="l"/>
            <a:r>
              <a:rPr lang="fr-FR" sz="2800" b="1" dirty="0" smtClean="0"/>
              <a:t>1. Rappel CEJM? </a:t>
            </a:r>
            <a:r>
              <a:rPr lang="fr-FR" sz="2800" b="1" dirty="0" smtClean="0">
                <a:sym typeface="Wingdings 3" panose="05040102010807070707" pitchFamily="18" charset="2"/>
              </a:rPr>
              <a:t> objectif et rôle</a:t>
            </a:r>
            <a:endParaRPr lang="fr-FR" sz="2800" b="1" dirty="0" smtClean="0"/>
          </a:p>
          <a:p>
            <a:pPr algn="l"/>
            <a:endParaRPr lang="fr-FR" sz="2800" b="1" dirty="0" smtClean="0"/>
          </a:p>
          <a:p>
            <a:pPr algn="l"/>
            <a:r>
              <a:rPr lang="fr-FR" sz="2800" b="1" dirty="0" smtClean="0"/>
              <a:t>2.Le programme de 1</a:t>
            </a:r>
            <a:r>
              <a:rPr lang="fr-FR" sz="2800" b="1" baseline="30000" dirty="0" smtClean="0"/>
              <a:t>ère</a:t>
            </a:r>
            <a:r>
              <a:rPr lang="fr-FR" sz="2800" b="1" dirty="0" smtClean="0"/>
              <a:t> et 2</a:t>
            </a:r>
            <a:r>
              <a:rPr lang="fr-FR" sz="2800" b="1" baseline="30000" dirty="0" smtClean="0"/>
              <a:t>ème</a:t>
            </a:r>
            <a:r>
              <a:rPr lang="fr-FR" sz="2800" b="1" dirty="0" smtClean="0"/>
              <a:t> année</a:t>
            </a:r>
          </a:p>
          <a:p>
            <a:pPr algn="l"/>
            <a:endParaRPr lang="fr-FR" sz="2800" b="1" dirty="0" smtClean="0"/>
          </a:p>
          <a:p>
            <a:pPr algn="l"/>
            <a:r>
              <a:rPr lang="fr-FR" sz="2800" b="1" dirty="0" smtClean="0"/>
              <a:t>3. L’épreuve de CEJM </a:t>
            </a:r>
            <a:r>
              <a:rPr lang="fr-FR" sz="2800" b="1" dirty="0" smtClean="0">
                <a:sym typeface="Wingdings 3" panose="05040102010807070707" pitchFamily="18" charset="2"/>
              </a:rPr>
              <a:t></a:t>
            </a:r>
            <a:r>
              <a:rPr lang="fr-FR" sz="2800" b="1" dirty="0" smtClean="0"/>
              <a:t>sujet 2025</a:t>
            </a:r>
          </a:p>
          <a:p>
            <a:pPr algn="l"/>
            <a:endParaRPr lang="fr-FR" sz="2800" b="1" dirty="0" smtClean="0"/>
          </a:p>
          <a:p>
            <a:pPr algn="l"/>
            <a:r>
              <a:rPr lang="fr-FR" sz="2800" b="1" dirty="0" smtClean="0"/>
              <a:t>4.Stratégies de travail conseillées</a:t>
            </a:r>
            <a:endParaRPr lang="fr-FR" sz="2800" b="1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3696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555672" y="31402"/>
            <a:ext cx="10635175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4400" b="1" dirty="0"/>
              <a:t>1.Qu’est-ce que la </a:t>
            </a:r>
            <a:r>
              <a:rPr lang="fr-FR" sz="4400" b="1" dirty="0" smtClean="0"/>
              <a:t>CEJM au fond? </a:t>
            </a:r>
            <a:endParaRPr lang="fr-FR" sz="4400" b="1" i="1" dirty="0" smtClean="0"/>
          </a:p>
        </p:txBody>
      </p:sp>
      <p:sp>
        <p:nvSpPr>
          <p:cNvPr id="5" name="Rectangle à coins arrondis 4"/>
          <p:cNvSpPr/>
          <p:nvPr/>
        </p:nvSpPr>
        <p:spPr>
          <a:xfrm>
            <a:off x="2586110" y="800843"/>
            <a:ext cx="7019779" cy="8440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</a:rPr>
              <a:t>L</a:t>
            </a:r>
            <a:r>
              <a:rPr lang="fr-FR" sz="3600" dirty="0" smtClean="0">
                <a:solidFill>
                  <a:schemeClr val="tx1"/>
                </a:solidFill>
              </a:rPr>
              <a:t>’objectif de la CEJM </a:t>
            </a:r>
            <a:endParaRPr lang="fr-FR" sz="3600" dirty="0">
              <a:solidFill>
                <a:schemeClr val="tx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393895" y="1758462"/>
            <a:ext cx="11366696" cy="431878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dirty="0" smtClean="0"/>
              <a:t>CEJM ou Culture économique, juridique et managériale vise à </a:t>
            </a:r>
            <a:r>
              <a:rPr lang="fr-FR" sz="2400" b="1" dirty="0" smtClean="0">
                <a:solidFill>
                  <a:srgbClr val="C00000"/>
                </a:solidFill>
              </a:rPr>
              <a:t>lier les trois matières       </a:t>
            </a:r>
            <a:r>
              <a:rPr lang="fr-FR" sz="2400" dirty="0" smtClean="0"/>
              <a:t>( </a:t>
            </a:r>
            <a:r>
              <a:rPr lang="fr-FR" sz="2400" b="1" dirty="0" smtClean="0"/>
              <a:t>économie-droit-management</a:t>
            </a:r>
            <a:r>
              <a:rPr lang="fr-FR" sz="2400" dirty="0" smtClean="0"/>
              <a:t> ) autour de problématique structurantes de l’étude des entreprises.</a:t>
            </a:r>
          </a:p>
          <a:p>
            <a:endParaRPr lang="fr-FR" sz="2400" dirty="0" smtClean="0"/>
          </a:p>
          <a:p>
            <a:r>
              <a:rPr lang="fr-FR" sz="2400" dirty="0" smtClean="0"/>
              <a:t>Il vise aussi à </a:t>
            </a:r>
            <a:r>
              <a:rPr lang="fr-FR" sz="2400" b="1" dirty="0" smtClean="0">
                <a:solidFill>
                  <a:srgbClr val="C00000"/>
                </a:solidFill>
              </a:rPr>
              <a:t>développer des compétences méthodologiques </a:t>
            </a:r>
            <a:r>
              <a:rPr lang="fr-FR" sz="2400" dirty="0" smtClean="0"/>
              <a:t>propres à chaque matière:</a:t>
            </a:r>
          </a:p>
          <a:p>
            <a:pPr marL="285750" indent="-285750">
              <a:buFontTx/>
              <a:buChar char="-"/>
            </a:pPr>
            <a:r>
              <a:rPr lang="fr-FR" sz="2400" dirty="0" smtClean="0"/>
              <a:t>En Economie: l’exploitation des graphiques et des données quantitatives u service de l’analyse économique</a:t>
            </a:r>
          </a:p>
          <a:p>
            <a:pPr marL="285750" indent="-285750">
              <a:buFontTx/>
              <a:buChar char="-"/>
            </a:pPr>
            <a:r>
              <a:rPr lang="fr-FR" sz="2400" dirty="0" smtClean="0"/>
              <a:t>En Droit : le syllogisme ( raisonnement logique)</a:t>
            </a:r>
          </a:p>
          <a:p>
            <a:pPr marL="285750" indent="-285750">
              <a:buFontTx/>
              <a:buChar char="-"/>
            </a:pPr>
            <a:r>
              <a:rPr lang="fr-FR" sz="2400" dirty="0" smtClean="0"/>
              <a:t>En Management: l’analyse organisationnelle et stratégique des entreprises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557706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5" name="Rectangle à coins arrondis 4"/>
          <p:cNvSpPr/>
          <p:nvPr/>
        </p:nvSpPr>
        <p:spPr>
          <a:xfrm>
            <a:off x="2586110" y="323665"/>
            <a:ext cx="7019779" cy="8440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smtClean="0">
                <a:solidFill>
                  <a:schemeClr val="tx1"/>
                </a:solidFill>
              </a:rPr>
              <a:t>Le rôle de la CEJM </a:t>
            </a:r>
            <a:endParaRPr lang="fr-FR" sz="3600" dirty="0">
              <a:solidFill>
                <a:schemeClr val="tx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412651" y="1602648"/>
            <a:ext cx="11366696" cy="431878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dirty="0" smtClean="0"/>
              <a:t>Les titulaires du BTS évoluent désormais dans une organisation en interaction avec un  environnement complexe ( accélération des technologies, transformation des modes de consommation, mondialisation).</a:t>
            </a:r>
          </a:p>
          <a:p>
            <a:endParaRPr lang="fr-FR" sz="2400" dirty="0" smtClean="0"/>
          </a:p>
          <a:p>
            <a:r>
              <a:rPr lang="fr-FR" sz="2400" b="1" dirty="0" smtClean="0">
                <a:solidFill>
                  <a:srgbClr val="C00000"/>
                </a:solidFill>
              </a:rPr>
              <a:t>Il devient donc nécessaire de comprendre les incidences de l’environnement sur les décisions des entreprises</a:t>
            </a:r>
          </a:p>
          <a:p>
            <a:endParaRPr lang="fr-FR" sz="2400" b="1" dirty="0">
              <a:solidFill>
                <a:srgbClr val="C00000"/>
              </a:solidFill>
            </a:endParaRPr>
          </a:p>
          <a:p>
            <a:r>
              <a:rPr lang="fr-FR" sz="2400" b="1" dirty="0" smtClean="0">
                <a:solidFill>
                  <a:srgbClr val="C00000"/>
                </a:solidFill>
              </a:rPr>
              <a:t>La discipline CEJM vise donc à ’intégrer une culture, un vocabulaire, des concepts  permettant de mieux comprendre cet environnement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954487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555672" y="31402"/>
            <a:ext cx="10635175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4400" b="1" dirty="0" smtClean="0"/>
              <a:t>1.Le programme de 1</a:t>
            </a:r>
            <a:r>
              <a:rPr lang="fr-FR" sz="4400" b="1" baseline="30000" dirty="0" smtClean="0"/>
              <a:t>ère</a:t>
            </a:r>
            <a:r>
              <a:rPr lang="fr-FR" sz="4400" b="1" dirty="0" smtClean="0"/>
              <a:t> et 2</a:t>
            </a:r>
            <a:r>
              <a:rPr lang="fr-FR" sz="4400" b="1" baseline="30000" dirty="0" smtClean="0"/>
              <a:t>ème</a:t>
            </a:r>
            <a:r>
              <a:rPr lang="fr-FR" sz="4400" b="1" dirty="0" smtClean="0"/>
              <a:t> année</a:t>
            </a:r>
            <a:endParaRPr lang="fr-FR" sz="4400" b="1" i="1" dirty="0" smtClean="0"/>
          </a:p>
        </p:txBody>
      </p:sp>
      <p:sp>
        <p:nvSpPr>
          <p:cNvPr id="5" name="Rectangle à coins arrondis 4"/>
          <p:cNvSpPr/>
          <p:nvPr/>
        </p:nvSpPr>
        <p:spPr>
          <a:xfrm>
            <a:off x="2567353" y="812156"/>
            <a:ext cx="7019779" cy="8440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smtClean="0">
                <a:solidFill>
                  <a:schemeClr val="tx1"/>
                </a:solidFill>
              </a:rPr>
              <a:t>Le programme de 1</a:t>
            </a:r>
            <a:r>
              <a:rPr lang="fr-FR" sz="3600" baseline="30000" dirty="0" smtClean="0">
                <a:solidFill>
                  <a:schemeClr val="tx1"/>
                </a:solidFill>
              </a:rPr>
              <a:t>ère</a:t>
            </a:r>
            <a:r>
              <a:rPr lang="fr-FR" sz="3600" dirty="0" smtClean="0">
                <a:solidFill>
                  <a:schemeClr val="tx1"/>
                </a:solidFill>
              </a:rPr>
              <a:t> année </a:t>
            </a:r>
            <a:endParaRPr lang="fr-FR" sz="3600" dirty="0">
              <a:solidFill>
                <a:schemeClr val="tx1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/>
          <a:srcRect l="19365" t="7356" r="19115" b="7067"/>
          <a:stretch/>
        </p:blipFill>
        <p:spPr>
          <a:xfrm>
            <a:off x="2944836" y="1453410"/>
            <a:ext cx="6642296" cy="492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15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26285" t="6779" r="25710" b="14567"/>
          <a:stretch/>
        </p:blipFill>
        <p:spPr>
          <a:xfrm>
            <a:off x="2869809" y="163617"/>
            <a:ext cx="6499274" cy="585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9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5" name="Rectangle à coins arrondis 4"/>
          <p:cNvSpPr/>
          <p:nvPr/>
        </p:nvSpPr>
        <p:spPr>
          <a:xfrm>
            <a:off x="2567353" y="812156"/>
            <a:ext cx="7019779" cy="8440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smtClean="0">
                <a:solidFill>
                  <a:schemeClr val="tx1"/>
                </a:solidFill>
              </a:rPr>
              <a:t>Le programme de 2</a:t>
            </a:r>
            <a:r>
              <a:rPr lang="fr-FR" sz="3600" baseline="30000" dirty="0" smtClean="0">
                <a:solidFill>
                  <a:schemeClr val="tx1"/>
                </a:solidFill>
              </a:rPr>
              <a:t>ère</a:t>
            </a:r>
            <a:r>
              <a:rPr lang="fr-FR" sz="3600" dirty="0" smtClean="0">
                <a:solidFill>
                  <a:schemeClr val="tx1"/>
                </a:solidFill>
              </a:rPr>
              <a:t> année </a:t>
            </a:r>
            <a:endParaRPr lang="fr-FR" sz="3600" dirty="0">
              <a:solidFill>
                <a:schemeClr val="tx1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25095" t="23700" r="26142" b="13415"/>
          <a:stretch/>
        </p:blipFill>
        <p:spPr>
          <a:xfrm>
            <a:off x="2968282" y="1575582"/>
            <a:ext cx="6344529" cy="460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78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527537" y="88180"/>
            <a:ext cx="10635175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4400" b="1" dirty="0" smtClean="0"/>
              <a:t>3.L’épreuve de CEJM ( U3) </a:t>
            </a:r>
            <a:endParaRPr lang="fr-FR" sz="4400" b="1" i="1" dirty="0" smtClean="0"/>
          </a:p>
        </p:txBody>
      </p:sp>
      <p:sp>
        <p:nvSpPr>
          <p:cNvPr id="5" name="Rectangle à coins arrondis 4"/>
          <p:cNvSpPr/>
          <p:nvPr/>
        </p:nvSpPr>
        <p:spPr>
          <a:xfrm>
            <a:off x="2567353" y="857621"/>
            <a:ext cx="7519182" cy="8440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 smtClean="0">
                <a:solidFill>
                  <a:srgbClr val="C00000"/>
                </a:solidFill>
              </a:rPr>
              <a:t>Epreuve écrite 4 heures </a:t>
            </a:r>
            <a:r>
              <a:rPr lang="fr-FR" sz="4000" b="1" dirty="0" err="1" smtClean="0">
                <a:solidFill>
                  <a:srgbClr val="C00000"/>
                </a:solidFill>
              </a:rPr>
              <a:t>Coeff</a:t>
            </a:r>
            <a:r>
              <a:rPr lang="fr-FR" sz="4000" b="1" dirty="0" smtClean="0">
                <a:solidFill>
                  <a:srgbClr val="C00000"/>
                </a:solidFill>
              </a:rPr>
              <a:t> 03</a:t>
            </a:r>
            <a:endParaRPr lang="fr-FR" sz="4000" b="1" dirty="0">
              <a:solidFill>
                <a:srgbClr val="C00000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393895" y="1758462"/>
            <a:ext cx="11366696" cy="45978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dirty="0" smtClean="0"/>
              <a:t>Epreuve: Etude de cas écrite  </a:t>
            </a:r>
          </a:p>
          <a:p>
            <a:r>
              <a:rPr lang="fr-FR" sz="2400" dirty="0" smtClean="0"/>
              <a:t>Durée de l’épreuve: 4 heures</a:t>
            </a:r>
          </a:p>
          <a:p>
            <a:r>
              <a:rPr lang="fr-FR" sz="2400" dirty="0" smtClean="0"/>
              <a:t>Thème: Problème rencontré dans une entreprise</a:t>
            </a:r>
          </a:p>
          <a:p>
            <a:endParaRPr lang="fr-FR" sz="2400" dirty="0" smtClean="0"/>
          </a:p>
          <a:p>
            <a:r>
              <a:rPr lang="fr-FR" sz="2400" b="1" u="sng" dirty="0" smtClean="0"/>
              <a:t>Objectif: </a:t>
            </a:r>
            <a:r>
              <a:rPr lang="fr-FR" sz="2400" dirty="0" smtClean="0"/>
              <a:t>solutionner les problèmes que l’entreprise rencontre et être en mesure d’apporter des arguments</a:t>
            </a:r>
          </a:p>
          <a:p>
            <a:r>
              <a:rPr lang="fr-FR" sz="2400" dirty="0" smtClean="0"/>
              <a:t>Document d’épreuve:</a:t>
            </a:r>
          </a:p>
          <a:p>
            <a:pPr marL="342900" indent="-342900">
              <a:buFontTx/>
              <a:buChar char="-"/>
            </a:pPr>
            <a:r>
              <a:rPr lang="fr-FR" sz="2400" dirty="0" smtClean="0"/>
              <a:t>Présentation d’une situation contextualisée d’entreprise contenant des problématiques économiques, juridiques et managériales</a:t>
            </a:r>
          </a:p>
          <a:p>
            <a:pPr marL="342900" indent="-342900">
              <a:buFontTx/>
              <a:buChar char="-"/>
            </a:pPr>
            <a:r>
              <a:rPr lang="fr-FR" sz="2400" dirty="0" smtClean="0"/>
              <a:t>Une base documentaire ( annexes) sur les 3 champs</a:t>
            </a:r>
          </a:p>
          <a:p>
            <a:pPr marL="342900" indent="-342900">
              <a:buFontTx/>
              <a:buChar char="-"/>
            </a:pPr>
            <a:r>
              <a:rPr lang="fr-FR" sz="2400" dirty="0" smtClean="0"/>
              <a:t>Série de questions</a:t>
            </a:r>
          </a:p>
        </p:txBody>
      </p:sp>
    </p:spTree>
    <p:extLst>
      <p:ext uri="{BB962C8B-B14F-4D97-AF65-F5344CB8AC3E}">
        <p14:creationId xmlns:p14="http://schemas.microsoft.com/office/powerpoint/2010/main" val="3392782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527537" y="88180"/>
            <a:ext cx="10635175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4400" b="1" dirty="0" smtClean="0"/>
              <a:t>3.L’épreuve de CEJM ( U3) </a:t>
            </a:r>
            <a:endParaRPr lang="fr-FR" sz="4400" b="1" i="1" dirty="0" smtClean="0"/>
          </a:p>
        </p:txBody>
      </p:sp>
      <p:sp>
        <p:nvSpPr>
          <p:cNvPr id="5" name="Rectangle à coins arrondis 4"/>
          <p:cNvSpPr/>
          <p:nvPr/>
        </p:nvSpPr>
        <p:spPr>
          <a:xfrm>
            <a:off x="872198" y="1631343"/>
            <a:ext cx="10290514" cy="35314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4000" b="1" dirty="0" smtClean="0">
                <a:solidFill>
                  <a:srgbClr val="C00000"/>
                </a:solidFill>
              </a:rPr>
              <a:t>EXEMPLE</a:t>
            </a:r>
          </a:p>
          <a:p>
            <a:r>
              <a:rPr lang="fr-FR" sz="2800" b="1" dirty="0" smtClean="0">
                <a:solidFill>
                  <a:srgbClr val="C00000"/>
                </a:solidFill>
                <a:sym typeface="Wingdings 3" panose="05040102010807070707" pitchFamily="18" charset="2"/>
              </a:rPr>
              <a:t> </a:t>
            </a:r>
            <a:r>
              <a:rPr lang="fr-FR" sz="2800" b="1" dirty="0" smtClean="0">
                <a:solidFill>
                  <a:srgbClr val="C00000"/>
                </a:solidFill>
              </a:rPr>
              <a:t>https://crcom.ac-versailles.fr/IMG/pdf/25cejm_sujet.pdf</a:t>
            </a:r>
            <a:endParaRPr lang="fr-FR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912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32232" t="20625" r="32413" b="6298"/>
          <a:stretch/>
        </p:blipFill>
        <p:spPr>
          <a:xfrm>
            <a:off x="3165231" y="198701"/>
            <a:ext cx="5371514" cy="6242126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105508" y="198701"/>
            <a:ext cx="2405575" cy="188507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smtClean="0">
                <a:solidFill>
                  <a:schemeClr val="tx1"/>
                </a:solidFill>
              </a:rPr>
              <a:t>Situation contextualisée d’une entreprise</a:t>
            </a:r>
            <a:endParaRPr lang="fr-FR" sz="1600" b="1" dirty="0">
              <a:solidFill>
                <a:schemeClr val="tx1"/>
              </a:solidFill>
            </a:endParaRPr>
          </a:p>
        </p:txBody>
      </p:sp>
      <p:cxnSp>
        <p:nvCxnSpPr>
          <p:cNvPr id="7" name="Connecteur en angle 6"/>
          <p:cNvCxnSpPr/>
          <p:nvPr/>
        </p:nvCxnSpPr>
        <p:spPr>
          <a:xfrm>
            <a:off x="1856936" y="1983544"/>
            <a:ext cx="858129" cy="5205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/>
        </p:nvSpPr>
        <p:spPr>
          <a:xfrm>
            <a:off x="8986911" y="3994631"/>
            <a:ext cx="2405575" cy="188507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smtClean="0">
                <a:solidFill>
                  <a:schemeClr val="tx1"/>
                </a:solidFill>
              </a:rPr>
              <a:t>Votre position générale</a:t>
            </a:r>
            <a:endParaRPr lang="fr-FR" sz="1600" b="1" dirty="0">
              <a:solidFill>
                <a:schemeClr val="tx1"/>
              </a:solidFill>
            </a:endParaRPr>
          </a:p>
        </p:txBody>
      </p:sp>
      <p:cxnSp>
        <p:nvCxnSpPr>
          <p:cNvPr id="10" name="Connecteur en angle 9"/>
          <p:cNvCxnSpPr/>
          <p:nvPr/>
        </p:nvCxnSpPr>
        <p:spPr>
          <a:xfrm rot="10800000" flipV="1">
            <a:off x="8986911" y="5838091"/>
            <a:ext cx="860474" cy="3235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772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32966" t="22590" r="33200" b="12945"/>
          <a:stretch/>
        </p:blipFill>
        <p:spPr>
          <a:xfrm>
            <a:off x="3879669" y="365760"/>
            <a:ext cx="5094513" cy="5773783"/>
          </a:xfrm>
          <a:prstGeom prst="rect">
            <a:avLst/>
          </a:prstGeom>
        </p:spPr>
      </p:pic>
      <p:sp>
        <p:nvSpPr>
          <p:cNvPr id="4" name="Ellipse 3"/>
          <p:cNvSpPr/>
          <p:nvPr/>
        </p:nvSpPr>
        <p:spPr>
          <a:xfrm>
            <a:off x="553665" y="166802"/>
            <a:ext cx="2271932" cy="134547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smtClean="0">
                <a:solidFill>
                  <a:schemeClr val="tx1"/>
                </a:solidFill>
              </a:rPr>
              <a:t>Découpage des questions et réponses par dossier</a:t>
            </a:r>
            <a:endParaRPr lang="fr-FR" sz="1600" b="1" dirty="0">
              <a:solidFill>
                <a:schemeClr val="tx1"/>
              </a:solidFill>
            </a:endParaRPr>
          </a:p>
        </p:txBody>
      </p:sp>
      <p:cxnSp>
        <p:nvCxnSpPr>
          <p:cNvPr id="5" name="Connecteur en angle 4"/>
          <p:cNvCxnSpPr/>
          <p:nvPr/>
        </p:nvCxnSpPr>
        <p:spPr>
          <a:xfrm>
            <a:off x="2825597" y="991772"/>
            <a:ext cx="858129" cy="5205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lipse 5"/>
          <p:cNvSpPr/>
          <p:nvPr/>
        </p:nvSpPr>
        <p:spPr>
          <a:xfrm>
            <a:off x="9849060" y="365760"/>
            <a:ext cx="1763820" cy="96806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smtClean="0">
                <a:solidFill>
                  <a:schemeClr val="tx1"/>
                </a:solidFill>
              </a:rPr>
              <a:t>Dossier dominé par 1 discipline</a:t>
            </a:r>
            <a:endParaRPr lang="fr-FR" sz="1600" b="1" dirty="0">
              <a:solidFill>
                <a:schemeClr val="tx1"/>
              </a:solidFill>
            </a:endParaRPr>
          </a:p>
        </p:txBody>
      </p:sp>
      <p:cxnSp>
        <p:nvCxnSpPr>
          <p:cNvPr id="7" name="Connecteur en angle 6"/>
          <p:cNvCxnSpPr/>
          <p:nvPr/>
        </p:nvCxnSpPr>
        <p:spPr>
          <a:xfrm rot="10800000" flipV="1">
            <a:off x="9598017" y="1333828"/>
            <a:ext cx="860474" cy="3235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/>
        </p:nvSpPr>
        <p:spPr>
          <a:xfrm>
            <a:off x="553665" y="3258344"/>
            <a:ext cx="2271932" cy="134547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smtClean="0">
                <a:solidFill>
                  <a:schemeClr val="tx1"/>
                </a:solidFill>
              </a:rPr>
              <a:t>Documents permettant de répondre avec précision aux questions</a:t>
            </a:r>
            <a:endParaRPr lang="fr-FR" sz="1600" b="1" dirty="0">
              <a:solidFill>
                <a:schemeClr val="tx1"/>
              </a:solidFill>
            </a:endParaRPr>
          </a:p>
        </p:txBody>
      </p:sp>
      <p:cxnSp>
        <p:nvCxnSpPr>
          <p:cNvPr id="9" name="Connecteur en angle 8"/>
          <p:cNvCxnSpPr/>
          <p:nvPr/>
        </p:nvCxnSpPr>
        <p:spPr>
          <a:xfrm>
            <a:off x="2825596" y="3931081"/>
            <a:ext cx="858129" cy="5205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877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33166" t="19732" r="33703" b="7946"/>
          <a:stretch/>
        </p:blipFill>
        <p:spPr>
          <a:xfrm>
            <a:off x="4038600" y="222070"/>
            <a:ext cx="5222966" cy="6283234"/>
          </a:xfrm>
          <a:prstGeom prst="rect">
            <a:avLst/>
          </a:prstGeom>
        </p:spPr>
      </p:pic>
      <p:sp>
        <p:nvSpPr>
          <p:cNvPr id="4" name="Ellipse 3"/>
          <p:cNvSpPr/>
          <p:nvPr/>
        </p:nvSpPr>
        <p:spPr>
          <a:xfrm>
            <a:off x="1455002" y="222070"/>
            <a:ext cx="1680084" cy="95660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smtClean="0">
                <a:solidFill>
                  <a:schemeClr val="tx1"/>
                </a:solidFill>
              </a:rPr>
              <a:t>Missions et questions</a:t>
            </a:r>
            <a:endParaRPr lang="fr-FR" sz="1600" b="1" dirty="0">
              <a:solidFill>
                <a:schemeClr val="tx1"/>
              </a:solidFill>
            </a:endParaRPr>
          </a:p>
        </p:txBody>
      </p:sp>
      <p:cxnSp>
        <p:nvCxnSpPr>
          <p:cNvPr id="5" name="Connecteur en angle 4"/>
          <p:cNvCxnSpPr/>
          <p:nvPr/>
        </p:nvCxnSpPr>
        <p:spPr>
          <a:xfrm>
            <a:off x="3095898" y="918422"/>
            <a:ext cx="858129" cy="5205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lipse 5"/>
          <p:cNvSpPr/>
          <p:nvPr/>
        </p:nvSpPr>
        <p:spPr>
          <a:xfrm>
            <a:off x="523184" y="2085704"/>
            <a:ext cx="2389833" cy="145433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Complément d’informations permettant d’exécuter une consigne précise</a:t>
            </a:r>
            <a:endParaRPr lang="fr-FR" sz="1200" b="1" dirty="0">
              <a:solidFill>
                <a:schemeClr val="tx1"/>
              </a:solidFill>
            </a:endParaRPr>
          </a:p>
        </p:txBody>
      </p:sp>
      <p:cxnSp>
        <p:nvCxnSpPr>
          <p:cNvPr id="8" name="Connecteur droit avec flèche 7"/>
          <p:cNvCxnSpPr>
            <a:stCxn id="6" idx="6"/>
          </p:cNvCxnSpPr>
          <p:nvPr/>
        </p:nvCxnSpPr>
        <p:spPr>
          <a:xfrm>
            <a:off x="2913017" y="2812869"/>
            <a:ext cx="10410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>
            <a:off x="2913017" y="3043646"/>
            <a:ext cx="1125583" cy="822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ccolade fermante 10"/>
          <p:cNvSpPr/>
          <p:nvPr/>
        </p:nvSpPr>
        <p:spPr>
          <a:xfrm>
            <a:off x="9326545" y="700372"/>
            <a:ext cx="45719" cy="255227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/>
          <p:cNvSpPr/>
          <p:nvPr/>
        </p:nvSpPr>
        <p:spPr>
          <a:xfrm>
            <a:off x="9483634" y="1178674"/>
            <a:ext cx="2389833" cy="145433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 smtClean="0">
                <a:solidFill>
                  <a:schemeClr val="tx1"/>
                </a:solidFill>
              </a:rPr>
              <a:t>Présentation des réponses  par dossier dans l’ordre</a:t>
            </a:r>
            <a:endParaRPr lang="fr-F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557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CEJM – TSTS SIO 2026 – Mme Vagner -</a:t>
            </a:r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/>
          <a:srcRect l="65882" t="32536" r="7143" b="33456"/>
          <a:stretch/>
        </p:blipFill>
        <p:spPr>
          <a:xfrm>
            <a:off x="1573306" y="443753"/>
            <a:ext cx="968188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01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273</TotalTime>
  <Words>446</Words>
  <Application>Microsoft Office PowerPoint</Application>
  <PresentationFormat>Grand écran</PresentationFormat>
  <Paragraphs>62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 3</vt:lpstr>
      <vt:lpstr>Office Theme</vt:lpstr>
      <vt:lpstr>Présentation  de l’épreuve de CEJM</vt:lpstr>
      <vt:lpstr>SOMMAIRE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LDU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 de l’épreuve de CEJM</dc:title>
  <dc:creator>Utilisateur;VAGNER E</dc:creator>
  <cp:lastModifiedBy>Utilisateur</cp:lastModifiedBy>
  <cp:revision>16</cp:revision>
  <dcterms:created xsi:type="dcterms:W3CDTF">2026-02-15T07:02:44Z</dcterms:created>
  <dcterms:modified xsi:type="dcterms:W3CDTF">2026-02-15T11:36:20Z</dcterms:modified>
</cp:coreProperties>
</file>